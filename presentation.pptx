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22e048fa2f46fb" /><Relationship Type="http://schemas.openxmlformats.org/officeDocument/2006/relationships/extended-properties" Target="/docProps/app.xml" Id="R595aa0159fa74b92" /><Relationship Type="http://schemas.openxmlformats.org/officeDocument/2006/relationships/officeDocument" Target="/ppt/presentation.xml" Id="R5ec45580ecf740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fb87a8173948ea"/>
  </p:sldMasterIdLst>
  <p:notesMasterIdLst>
    <p:notesMasterId xmlns:r="http://schemas.openxmlformats.org/officeDocument/2006/relationships" r:id="R86f5dabba01d4965"/>
  </p:notesMasterIdLst>
  <p:sldIdLst>
    <p:sldId xmlns:r="http://schemas.openxmlformats.org/officeDocument/2006/relationships" id="256" r:id="R413717e035ef4b43"/>
    <p:sldId xmlns:r="http://schemas.openxmlformats.org/officeDocument/2006/relationships" id="257" r:id="Re85877d40b8144fa"/>
    <p:sldId xmlns:r="http://schemas.openxmlformats.org/officeDocument/2006/relationships" id="258" r:id="R914af57f1ec34b6f"/>
    <p:sldId xmlns:r="http://schemas.openxmlformats.org/officeDocument/2006/relationships" id="259" r:id="R883f464cbd46409b"/>
    <p:sldId xmlns:r="http://schemas.openxmlformats.org/officeDocument/2006/relationships" id="260" r:id="Rdcfebb8fc5c9471b"/>
    <p:sldId xmlns:r="http://schemas.openxmlformats.org/officeDocument/2006/relationships" id="261" r:id="Reb4d254ed6014493"/>
    <p:sldId xmlns:r="http://schemas.openxmlformats.org/officeDocument/2006/relationships" id="262" r:id="R373703eb55c34079"/>
    <p:sldId xmlns:r="http://schemas.openxmlformats.org/officeDocument/2006/relationships" id="263" r:id="R45a639a5e0f34905"/>
    <p:sldId xmlns:r="http://schemas.openxmlformats.org/officeDocument/2006/relationships" id="264" r:id="Rd6b1e3d795fd40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50c3a25ec74ad5" /><Relationship Type="http://schemas.openxmlformats.org/officeDocument/2006/relationships/slideMaster" Target="/ppt/slideMasters/slideMaster1.xml" Id="Rf0fb87a8173948ea" /><Relationship Type="http://schemas.openxmlformats.org/officeDocument/2006/relationships/notesMaster" Target="/ppt/notesMasters/notesMaster1.xml" Id="R86f5dabba01d4965" /><Relationship Type="http://schemas.openxmlformats.org/officeDocument/2006/relationships/presProps" Target="/ppt/presProps.xml" Id="Rcce0dddbacbd4469" /><Relationship Type="http://schemas.openxmlformats.org/officeDocument/2006/relationships/tableStyles" Target="/ppt/tableStyles.xml" Id="R62089dd6e84b4366" /><Relationship Type="http://schemas.openxmlformats.org/officeDocument/2006/relationships/slide" Target="/ppt/slides/slide1.xml" Id="R413717e035ef4b43" /><Relationship Type="http://schemas.openxmlformats.org/officeDocument/2006/relationships/slide" Target="/ppt/slides/slide2.xml" Id="Re85877d40b8144fa" /><Relationship Type="http://schemas.openxmlformats.org/officeDocument/2006/relationships/slide" Target="/ppt/slides/slide3.xml" Id="R914af57f1ec34b6f" /><Relationship Type="http://schemas.openxmlformats.org/officeDocument/2006/relationships/slide" Target="/ppt/slides/slide4.xml" Id="R883f464cbd46409b" /><Relationship Type="http://schemas.openxmlformats.org/officeDocument/2006/relationships/slide" Target="/ppt/slides/slide5.xml" Id="Rdcfebb8fc5c9471b" /><Relationship Type="http://schemas.openxmlformats.org/officeDocument/2006/relationships/slide" Target="/ppt/slides/slide6.xml" Id="Reb4d254ed6014493" /><Relationship Type="http://schemas.openxmlformats.org/officeDocument/2006/relationships/slide" Target="/ppt/slides/slide7.xml" Id="R373703eb55c34079" /><Relationship Type="http://schemas.openxmlformats.org/officeDocument/2006/relationships/slide" Target="/ppt/slides/slide8.xml" Id="R45a639a5e0f34905" /><Relationship Type="http://schemas.openxmlformats.org/officeDocument/2006/relationships/slide" Target="/ppt/slides/slide9.xml" Id="Rd6b1e3d795fd40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3e68a8f3fa44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b0d904f3e744f1" /><Relationship Type="http://schemas.openxmlformats.org/officeDocument/2006/relationships/notesMaster" Target="/ppt/notesMasters/notesMaster1.xml" Id="R64aa8f9e0cda48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1f1c4f253544e0" /><Relationship Type="http://schemas.openxmlformats.org/officeDocument/2006/relationships/notesMaster" Target="/ppt/notesMasters/notesMaster1.xml" Id="R25857390885f42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aa1da57f8a4a37" /><Relationship Type="http://schemas.openxmlformats.org/officeDocument/2006/relationships/notesMaster" Target="/ppt/notesMasters/notesMaster1.xml" Id="Re50e868d8bab4c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5a5e0077794be0" /><Relationship Type="http://schemas.openxmlformats.org/officeDocument/2006/relationships/notesMaster" Target="/ppt/notesMasters/notesMaster1.xml" Id="Rddf741805aaf43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097fe16cd24851" /><Relationship Type="http://schemas.openxmlformats.org/officeDocument/2006/relationships/notesMaster" Target="/ppt/notesMasters/notesMaster1.xml" Id="R7484519c6e4c40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b79033885140a2" /><Relationship Type="http://schemas.openxmlformats.org/officeDocument/2006/relationships/notesMaster" Target="/ppt/notesMasters/notesMaster1.xml" Id="Red50fbabe7c443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4103f0c97a450d" /><Relationship Type="http://schemas.openxmlformats.org/officeDocument/2006/relationships/notesMaster" Target="/ppt/notesMasters/notesMaster1.xml" Id="R3cfb6f7ff0964d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97825b609e4af1" /><Relationship Type="http://schemas.openxmlformats.org/officeDocument/2006/relationships/notesMaster" Target="/ppt/notesMasters/notesMaster1.xml" Id="R616ab0c12eec4c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ba91aa77164d6f" /><Relationship Type="http://schemas.openxmlformats.org/officeDocument/2006/relationships/notesMaster" Target="/ppt/notesMasters/notesMaster1.xml" Id="R1d670368b7944c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PROJECT_BRIEF!A1:C17 in https://docs.google.com/spreadsheets/d/1aB6EJyum1TMhO1PrAaIwPElv_bpxdSFA2bQxTE7J2KI/edit. The dataset is fully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PROJECT_BRIEF!A1:C17 and workbook metadata in https://docs.google.com/spreadsheets/d/1aB6EJyum1TMhO1PrAaIwPElv_bpxdSFA2bQxTE7J2KI/edit.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DATA_QUALITY!A1:J13 and RECONCILIATION_CONTROL!A1:J22 in https://docs.google.com/spreadsheets/d/1aB6EJyum1TMhO1PrAaIwPElv_bpxdSFA2bQxTE7J2KI/edit.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ANALYSIS_KPI_MONTHLY!A1:U37, ANALYSIS_USAGE_ADOPTION!A29:G40 and ANALYSIS_SUPPORT!A25:L37 in https://docs.google.com/spreadsheets/d/1aB6EJyum1TMhO1PrAaIwPElv_bpxdSFA2bQxTE7J2KI/edit. Usage values are proxy estimates because source precedence remains unresolved.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ANALYSIS_KPI_MONTHLY!A1:U37 in https://docs.google.com/spreadsheets/d/1aB6EJyum1TMhO1PrAaIwPElv_bpxdSFA2bQxTE7J2KI/edit. Values displayed in thousands of US dollars.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ANALYSIS_USAGE_ADOPTION!A67:F71 in https://docs.google.com/spreadsheets/d/1aB6EJyum1TMhO1PrAaIwPElv_bpxdSFA2bQxTE7J2KI/edit. Usage measures are directional proxy estimates because repeated subscription-month observations have unresolved source precedence.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ANALYSIS_SUPPORT!A25:L37 in https://docs.google.com/spreadsheets/d/1aB6EJyum1TMhO1PrAaIwPElv_bpxdSFA2bQxTE7J2KI/edit. Four records with invalid resolution chronology are excluded from timing and SLA calculations.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ANALYSIS_MARKETING!A44:N52 and A64:N67 in https://docs.google.com/spreadsheets/d/1aB6EJyum1TMhO1PrAaIwPElv_bpxdSFA2bQxTE7J2KI/edit. Channel CAC uses reported acquired customers. CRM attribution coverage is too low for revenue-return conclusions.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EXECUTIVE_INSIGHT!A17:J23 in https://docs.google.com/spreadsheets/d/1aB6EJyum1TMhO1PrAaIwPElv_bpxdSFA2bQxTE7J2KI/edit. The acquisition completeness and usage-grain caveats should remain visible in management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f537c0361546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16efe012ae4f57" /><Relationship Type="http://schemas.openxmlformats.org/officeDocument/2006/relationships/slideLayout" Target="/ppt/slideLayouts/slideLayout1.xml" Id="Rf5745543b29f4f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745543b29f4f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0dfe3cc2a4b7e" /><Relationship Type="http://schemas.openxmlformats.org/officeDocument/2006/relationships/notesSlide" Target="/ppt/notesSlides/notesSlide1.xml" Id="R29310842a3c942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68eabe5a84480" /><Relationship Type="http://schemas.openxmlformats.org/officeDocument/2006/relationships/notesSlide" Target="/ppt/notesSlides/notesSlide2.xml" Id="R44e2d1faa0254f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7a719780a47d9" /><Relationship Type="http://schemas.openxmlformats.org/officeDocument/2006/relationships/chart" Target="/ppt/slides/charts/chart1.xml" Id="R19bb74358bcf4675" /><Relationship Type="http://schemas.openxmlformats.org/officeDocument/2006/relationships/notesSlide" Target="/ppt/notesSlides/notesSlide3.xml" Id="Raabe7cc08d634e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fadcd38174cee" /><Relationship Type="http://schemas.openxmlformats.org/officeDocument/2006/relationships/notesSlide" Target="/ppt/notesSlides/notesSlide4.xml" Id="R6f93fa2e74ce44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37623b3134e04" /><Relationship Type="http://schemas.openxmlformats.org/officeDocument/2006/relationships/chart" Target="/ppt/slides/charts/chart2.xml" Id="Re77dd77402bd46ef" /><Relationship Type="http://schemas.openxmlformats.org/officeDocument/2006/relationships/notesSlide" Target="/ppt/notesSlides/notesSlide5.xml" Id="R9f325048651345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42bc4e37b4896" /><Relationship Type="http://schemas.openxmlformats.org/officeDocument/2006/relationships/chart" Target="/ppt/slides/charts/chart3.xml" Id="R498b413950c24945" /><Relationship Type="http://schemas.openxmlformats.org/officeDocument/2006/relationships/notesSlide" Target="/ppt/notesSlides/notesSlide6.xml" Id="Re0923f79d75e45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e1136af144f27" /><Relationship Type="http://schemas.openxmlformats.org/officeDocument/2006/relationships/chart" Target="/ppt/slides/charts/chart4.xml" Id="Rebfd3d7fcaf24a31" /><Relationship Type="http://schemas.openxmlformats.org/officeDocument/2006/relationships/notesSlide" Target="/ppt/notesSlides/notesSlide7.xml" Id="R9b00076414a74f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db68ff64644c9" /><Relationship Type="http://schemas.openxmlformats.org/officeDocument/2006/relationships/chart" Target="/ppt/slides/charts/chart5.xml" Id="Rde0ce8be630448d6" /><Relationship Type="http://schemas.openxmlformats.org/officeDocument/2006/relationships/notesSlide" Target="/ppt/notesSlides/notesSlide8.xml" Id="Rdecbf9e808324f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fe943db6f4958" /><Relationship Type="http://schemas.openxmlformats.org/officeDocument/2006/relationships/notesSlide" Target="/ppt/notesSlides/notesSlide9.xml" Id="Rd9ffaba0262b483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Material findings</c:v>
          </c:tx>
          <c:spPr>
            <a:solidFill xmlns:a="http://schemas.openxmlformats.org/drawingml/2006/main">
              <a:srgbClr val="6D4AFF"/>
            </a:solidFill>
          </c:spPr>
          <c:cat>
            <c:strLit>
              <c:ptCount val="3"/>
              <c:pt idx="0">
                <c:v>Low</c:v>
              </c:pt>
              <c:pt idx="1">
                <c:v>Medium</c:v>
              </c:pt>
              <c:pt idx="2">
                <c:v>High</c:v>
              </c:pt>
            </c:strLit>
          </c:cat>
          <c:val>
            <c:numLit>
              <c:formatCode>General</c:formatCode>
              <c:ptCount val="3"/>
              <c:pt idx="0">
                <c:v>1</c:v>
              </c:pt>
              <c:pt idx="1">
                <c:v>4</c:v>
              </c:pt>
              <c:pt idx="2">
                <c:v>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imbus Sans"/>
                  <a:ea typeface="Nimbus Sans"/>
                  <a:cs typeface="Nimbus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Ending MRR ($K)</c:v>
          </c:tx>
          <c:spPr>
            <a:solidFill xmlns:a="http://schemas.openxmlformats.org/drawingml/2006/main">
              <a:srgbClr val="6D4AFF"/>
            </a:solidFill>
          </c:spPr>
          <c:cat>
            <c:strLit>
              <c:ptCount val="24"/>
              <c:pt idx="0">
                <c:v>Jan-24</c:v>
              </c:pt>
              <c:pt idx="1">
                <c:v>Feb-24</c:v>
              </c:pt>
              <c:pt idx="2">
                <c:v>Mar-24</c:v>
              </c:pt>
              <c:pt idx="3">
                <c:v>Apr-24</c:v>
              </c:pt>
              <c:pt idx="4">
                <c:v>May-24</c:v>
              </c:pt>
              <c:pt idx="5">
                <c:v>Jun-24</c:v>
              </c:pt>
              <c:pt idx="6">
                <c:v>Jul-24</c:v>
              </c:pt>
              <c:pt idx="7">
                <c:v>Aug-24</c:v>
              </c:pt>
              <c:pt idx="8">
                <c:v>Sep-24</c:v>
              </c:pt>
              <c:pt idx="9">
                <c:v>Oct-24</c:v>
              </c:pt>
              <c:pt idx="10">
                <c:v>Nov-24</c:v>
              </c:pt>
              <c:pt idx="11">
                <c:v>Dec-24</c:v>
              </c:pt>
              <c:pt idx="12">
                <c:v>Jan-25</c:v>
              </c:pt>
              <c:pt idx="13">
                <c:v>Feb-25</c:v>
              </c:pt>
              <c:pt idx="14">
                <c:v>Mar-25</c:v>
              </c:pt>
              <c:pt idx="15">
                <c:v>Apr-25</c:v>
              </c:pt>
              <c:pt idx="16">
                <c:v>May-25</c:v>
              </c:pt>
              <c:pt idx="17">
                <c:v>Jun-25</c:v>
              </c:pt>
              <c:pt idx="18">
                <c:v>Jul-25</c:v>
              </c:pt>
              <c:pt idx="19">
                <c:v>Aug-25</c:v>
              </c:pt>
              <c:pt idx="20">
                <c:v>Sep-25</c:v>
              </c:pt>
              <c:pt idx="21">
                <c:v>Oct-25</c:v>
              </c:pt>
              <c:pt idx="22">
                <c:v>Nov-25</c:v>
              </c:pt>
              <c:pt idx="23">
                <c:v>Dec-25</c:v>
              </c:pt>
            </c:strLit>
          </c:cat>
          <c:val>
            <c:numLit>
              <c:formatCode>General</c:formatCode>
              <c:ptCount val="24"/>
              <c:pt idx="0">
                <c:v>57.1</c:v>
              </c:pt>
              <c:pt idx="1">
                <c:v>65.8</c:v>
              </c:pt>
              <c:pt idx="2">
                <c:v>75.9</c:v>
              </c:pt>
              <c:pt idx="3">
                <c:v>87</c:v>
              </c:pt>
              <c:pt idx="4">
                <c:v>97.9</c:v>
              </c:pt>
              <c:pt idx="5">
                <c:v>109.1</c:v>
              </c:pt>
              <c:pt idx="6">
                <c:v>124.6</c:v>
              </c:pt>
              <c:pt idx="7">
                <c:v>138.4</c:v>
              </c:pt>
              <c:pt idx="8">
                <c:v>158</c:v>
              </c:pt>
              <c:pt idx="9">
                <c:v>176.9</c:v>
              </c:pt>
              <c:pt idx="10">
                <c:v>189.2</c:v>
              </c:pt>
              <c:pt idx="11">
                <c:v>208.6</c:v>
              </c:pt>
              <c:pt idx="12">
                <c:v>220</c:v>
              </c:pt>
              <c:pt idx="13">
                <c:v>243</c:v>
              </c:pt>
              <c:pt idx="14">
                <c:v>267</c:v>
              </c:pt>
              <c:pt idx="15">
                <c:v>293.8</c:v>
              </c:pt>
              <c:pt idx="16">
                <c:v>328.5</c:v>
              </c:pt>
              <c:pt idx="17">
                <c:v>369.3</c:v>
              </c:pt>
              <c:pt idx="18">
                <c:v>410.1</c:v>
              </c:pt>
              <c:pt idx="19">
                <c:v>455</c:v>
              </c:pt>
              <c:pt idx="20">
                <c:v>497.9</c:v>
              </c:pt>
              <c:pt idx="21">
                <c:v>518.5</c:v>
              </c:pt>
              <c:pt idx="22">
                <c:v>509.2</c:v>
              </c:pt>
              <c:pt idx="23">
                <c:v>491.5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imbus Sans"/>
                  <a:ea typeface="Nimbus Sans"/>
                  <a:cs typeface="Nimbus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Seat utilization (%)</c:v>
          </c:tx>
          <c:spPr>
            <a:solidFill xmlns:a="http://schemas.openxmlformats.org/drawingml/2006/main">
              <a:srgbClr val="1EAD9F"/>
            </a:solidFill>
          </c:spPr>
          <c:cat>
            <c:strLit>
              <c:ptCount val="3"/>
              <c:pt idx="0">
                <c:v>Enterprise</c:v>
              </c:pt>
              <c:pt idx="1">
                <c:v>Mid-Market</c:v>
              </c:pt>
              <c:pt idx="2">
                <c:v>SMB</c:v>
              </c:pt>
            </c:strLit>
          </c:cat>
          <c:val>
            <c:numLit>
              <c:formatCode>General</c:formatCode>
              <c:ptCount val="3"/>
              <c:pt idx="0">
                <c:v>68.7</c:v>
              </c:pt>
              <c:pt idx="1">
                <c:v>59.1</c:v>
              </c:pt>
              <c:pt idx="2">
                <c:v>53.3</c:v>
              </c:pt>
            </c:numLit>
          </c:val>
        </c:ser>
        <c:ser>
          <c:idx val="1"/>
          <c:order val="1"/>
          <c:tx>
            <c:v>Adoption score</c:v>
          </c:tx>
          <c:spPr>
            <a:solidFill xmlns:a="http://schemas.openxmlformats.org/drawingml/2006/main">
              <a:srgbClr val="6D4AFF"/>
            </a:solidFill>
          </c:spPr>
          <c:cat>
            <c:strLit>
              <c:ptCount val="3"/>
              <c:pt idx="0">
                <c:v>Enterprise</c:v>
              </c:pt>
              <c:pt idx="1">
                <c:v>Mid-Market</c:v>
              </c:pt>
              <c:pt idx="2">
                <c:v>SMB</c:v>
              </c:pt>
            </c:strLit>
          </c:cat>
          <c:val>
            <c:numLit>
              <c:formatCode>General</c:formatCode>
              <c:ptCount val="3"/>
              <c:pt idx="0">
                <c:v>68.2</c:v>
              </c:pt>
              <c:pt idx="1">
                <c:v>58.2</c:v>
              </c:pt>
              <c:pt idx="2">
                <c:v>48.9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imbus Sans"/>
                  <a:ea typeface="Nimbus Sans"/>
                  <a:cs typeface="Nimbus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Nimbus Sans"/>
              <a:ea typeface="Nimbus Sans"/>
              <a:cs typeface="Nimbus Sans"/>
            </a:defRPr>
          </a:pPr>
        </a:p>
      </c:txPr>
    </c:legend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SLA met (%)</c:v>
          </c:tx>
          <c:spPr>
            <a:solidFill xmlns:a="http://schemas.openxmlformats.org/drawingml/2006/main">
              <a:srgbClr val="D95D75"/>
            </a:solidFill>
          </c:spPr>
          <c:marker>
            <c:symbol val="none"/>
          </c:marker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General</c:formatCode>
              <c:ptCount val="12"/>
              <c:pt idx="0">
                <c:v>51</c:v>
              </c:pt>
              <c:pt idx="1">
                <c:v>45.3</c:v>
              </c:pt>
              <c:pt idx="2">
                <c:v>42.4</c:v>
              </c:pt>
              <c:pt idx="3">
                <c:v>41.8</c:v>
              </c:pt>
              <c:pt idx="4">
                <c:v>38.3</c:v>
              </c:pt>
              <c:pt idx="5">
                <c:v>42.2</c:v>
              </c:pt>
              <c:pt idx="6">
                <c:v>45.1</c:v>
              </c:pt>
              <c:pt idx="7">
                <c:v>45.5</c:v>
              </c:pt>
              <c:pt idx="8">
                <c:v>39.8</c:v>
              </c:pt>
              <c:pt idx="9">
                <c:v>44.5</c:v>
              </c:pt>
              <c:pt idx="10">
                <c:v>46.6</c:v>
              </c:pt>
              <c:pt idx="11">
                <c:v>40.4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imbus Sans"/>
                  <a:ea typeface="Nimbus Sans"/>
                  <a:cs typeface="Nimbus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CAC ($)</c:v>
          </c:tx>
          <c:spPr>
            <a:solidFill xmlns:a="http://schemas.openxmlformats.org/drawingml/2006/main">
              <a:srgbClr val="4C6FFF"/>
            </a:solidFill>
          </c:spPr>
          <c:cat>
            <c:strLit>
              <c:ptCount val="8"/>
              <c:pt idx="0">
                <c:v>Content</c:v>
              </c:pt>
              <c:pt idx="1">
                <c:v>Events</c:v>
              </c:pt>
              <c:pt idx="2">
                <c:v>Organic Search</c:v>
              </c:pt>
              <c:pt idx="3">
                <c:v>Outbound</c:v>
              </c:pt>
              <c:pt idx="4">
                <c:v>Paid Search</c:v>
              </c:pt>
              <c:pt idx="5">
                <c:v>Paid Social</c:v>
              </c:pt>
              <c:pt idx="6">
                <c:v>Partner</c:v>
              </c:pt>
              <c:pt idx="7">
                <c:v>Referral</c:v>
              </c:pt>
            </c:strLit>
          </c:cat>
          <c:val>
            <c:numLit>
              <c:formatCode>General</c:formatCode>
              <c:ptCount val="8"/>
              <c:pt idx="0">
                <c:v>443</c:v>
              </c:pt>
              <c:pt idx="1">
                <c:v>512</c:v>
              </c:pt>
              <c:pt idx="2">
                <c:v>490</c:v>
              </c:pt>
              <c:pt idx="3">
                <c:v>483</c:v>
              </c:pt>
              <c:pt idx="4">
                <c:v>392</c:v>
              </c:pt>
              <c:pt idx="5">
                <c:v>260</c:v>
              </c:pt>
              <c:pt idx="6">
                <c:v>539</c:v>
              </c:pt>
              <c:pt idx="7">
                <c:v>462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imbus Sans"/>
                  <a:ea typeface="Nimbus Sans"/>
                  <a:cs typeface="Nimbus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B1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3D92FA-BE75-4A93-B6BF-7DEBFA50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AD9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7A1DA-06B8-412A-9DDA-ECB10626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EAD9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1EAD9F"/>
                </a:solidFill>
                <a:latin typeface="Nimbus Sans"/>
                <a:ea typeface="Nimbus Sans"/>
                <a:cs typeface="Nimbus Sans"/>
              </a:rPr>
              <a:t>CLOUDFLOW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F324F-C3D9-4884-880E-45F8B149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9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SaaS Analytics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4AE3D-9499-485D-9B04-3F580410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E9E4F7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 i="0">
                <a:solidFill>
                  <a:srgbClr val="E9E4F7"/>
                </a:solidFill>
                <a:latin typeface="Nimbus Sans"/>
                <a:ea typeface="Nimbus Sans"/>
                <a:cs typeface="Nimbus Sans"/>
              </a:rPr>
              <a:t>End-to-end data quality, modeling and executive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A7BF2-00F2-4285-A6E1-12E1A5E1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AD9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72EF5-96E3-415E-88C2-8CCEFDDB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A6A1B0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A6A1B0"/>
                </a:solidFill>
                <a:latin typeface="Nimbus Sans"/>
                <a:ea typeface="Nimbus Sans"/>
                <a:cs typeface="Nimbus Sans"/>
              </a:rPr>
              <a:t>Analysis period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E238A-9155-425E-B365-8669CB74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January 2023 to December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7C8BF-0994-4E9E-9021-7085FA8D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E9E4F7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E9E4F7"/>
                </a:solidFill>
                <a:latin typeface="Nimbus Sans"/>
                <a:ea typeface="Nimbus Sans"/>
                <a:cs typeface="Nimbus Sans"/>
              </a:rPr>
              <a:t>Synthetic B2B SaaS portfolio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2D3E5-6150-47BA-BE35-71F74CCD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9817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EAD9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1EAD9F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4346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873787-B554-489E-977E-A4434837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Project objective and analytical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9B067-C22E-4085-A55E-09428913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How is CloudFlow performing across growth, retention, adoption, service and acquisition?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F7B81-6613-4181-AA06-1DF88503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A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24B14-4F6C-47A9-9833-B6B2BF38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B1761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 i="0">
                <a:solidFill>
                  <a:srgbClr val="2B1761"/>
                </a:solidFill>
                <a:latin typeface="Nimbus Sans"/>
                <a:ea typeface="Nimbus Sans"/>
                <a:cs typeface="Nimbus Sans"/>
              </a:rPr>
              <a:t>Business objective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F5EE3-B482-4B55-93F2-B3F95926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Create a trusted analytical layer that connects recurring revenue, customer behavior, product usage, support performance and marketing efficiency to executive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70FE3-0DBB-4B89-864C-1074E065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The workflow preserves every raw export, documents each cleaning decision and keeps audit controls separate from business calculations.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4EE95-75B6-4EA0-A93D-D940D5C1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114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E4F7"/>
          </a:solidFill>
          <a:ln xmlns:a="http://schemas.openxmlformats.org/drawingml/2006/main" w="9525">
            <a:solidFill>
              <a:srgbClr val="2B176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190A7-E64B-4D77-8F00-474575EB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00300"/>
            <a:ext cx="99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B176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2B1761"/>
                </a:solidFill>
                <a:latin typeface="Nimbus Sans"/>
                <a:ea typeface="Nimbus Sans"/>
                <a:cs typeface="Nimbus Sans"/>
              </a:rPr>
              <a:t>8 RAW</a:t>
            </a:r>
          </a:p>
          <a:p xmlns:a="http://schemas.openxmlformats.org/drawingml/2006/main">
            <a:pPr>
              <a:defRPr sz="1200" b="1" i="0">
                <a:solidFill>
                  <a:srgbClr val="2B176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2B1761"/>
                </a:solidFill>
                <a:latin typeface="Nimbus Sans"/>
                <a:ea typeface="Nimbus Sans"/>
                <a:cs typeface="Nimbus Sans"/>
              </a:rPr>
              <a:t>TABLES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F8D0B-1FDE-491F-B559-F456A62A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4C440-576F-4CE9-A885-D9F56671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114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F4F0"/>
          </a:solidFill>
          <a:ln xmlns:a="http://schemas.openxmlformats.org/drawingml/2006/main" w="9525">
            <a:solidFill>
              <a:srgbClr val="1EAD9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55FEC-9E9F-4FD7-A0C9-8397FB3A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00300"/>
            <a:ext cx="99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EAD9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1EAD9F"/>
                </a:solidFill>
                <a:latin typeface="Nimbus Sans"/>
                <a:ea typeface="Nimbus Sans"/>
                <a:cs typeface="Nimbus Sans"/>
              </a:rPr>
              <a:t>8 CLEAN</a:t>
            </a:r>
          </a:p>
          <a:p xmlns:a="http://schemas.openxmlformats.org/drawingml/2006/main">
            <a:pPr>
              <a:defRPr sz="1200" b="1" i="0">
                <a:solidFill>
                  <a:srgbClr val="1EAD9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1EAD9F"/>
                </a:solidFill>
                <a:latin typeface="Nimbus Sans"/>
                <a:ea typeface="Nimbus Sans"/>
                <a:cs typeface="Nimbus Sans"/>
              </a:rPr>
              <a:t>LAYERS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2C9EA-75AE-4045-8C0E-FD1D7FF4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241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B7419-85B7-4C1C-8ACC-2363882C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90750"/>
            <a:ext cx="114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ECFF"/>
          </a:solidFill>
          <a:ln xmlns:a="http://schemas.openxmlformats.org/drawingml/2006/main" w="9525">
            <a:solidFill>
              <a:srgbClr val="4C6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1281B-362D-4B85-88B8-D6FFBA91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00300"/>
            <a:ext cx="99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C6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4C6FFF"/>
                </a:solidFill>
                <a:latin typeface="Nimbus Sans"/>
                <a:ea typeface="Nimbus Sans"/>
                <a:cs typeface="Nimbus Sans"/>
              </a:rPr>
              <a:t>6 MODEL</a:t>
            </a:r>
          </a:p>
          <a:p xmlns:a="http://schemas.openxmlformats.org/drawingml/2006/main">
            <a:pPr>
              <a:defRPr sz="1200" b="1" i="0">
                <a:solidFill>
                  <a:srgbClr val="4C6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4C6FFF"/>
                </a:solidFill>
                <a:latin typeface="Nimbus Sans"/>
                <a:ea typeface="Nimbus Sans"/>
                <a:cs typeface="Nimbus Sans"/>
              </a:rPr>
              <a:t>TABLES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BB8EDA-C326-43A2-A405-C7054F35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241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E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E4D810-E9CF-4576-BDF8-66CC6C73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0"/>
            <a:ext cx="114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A46C0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53646B-2741-4CF9-A418-77420EFD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00300"/>
            <a:ext cx="99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A46C08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A46C08"/>
                </a:solidFill>
                <a:latin typeface="Nimbus Sans"/>
                <a:ea typeface="Nimbus Sans"/>
                <a:cs typeface="Nimbus Sans"/>
              </a:rPr>
              <a:t>5 ANALYSIS</a:t>
            </a:r>
          </a:p>
          <a:p xmlns:a="http://schemas.openxmlformats.org/drawingml/2006/main">
            <a:pPr>
              <a:defRPr sz="1200" b="1" i="0">
                <a:solidFill>
                  <a:srgbClr val="A46C08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A46C08"/>
                </a:solidFill>
                <a:latin typeface="Nimbus Sans"/>
                <a:ea typeface="Nimbus Sans"/>
                <a:cs typeface="Nimbus Sans"/>
              </a:rPr>
              <a:t>SHEETS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646BAB-698E-4AAD-83A8-09270B60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7241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E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25820F-DE0D-48C3-9A42-539C4572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190750"/>
            <a:ext cx="11811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DDE4"/>
          </a:solidFill>
          <a:ln xmlns:a="http://schemas.openxmlformats.org/drawingml/2006/main" w="9525">
            <a:solidFill>
              <a:srgbClr val="D95D7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324452-B1BF-4046-93CC-18E720A4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00300"/>
            <a:ext cx="1028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D95D75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D95D75"/>
                </a:solidFill>
                <a:latin typeface="Nimbus Sans"/>
                <a:ea typeface="Nimbus Sans"/>
                <a:cs typeface="Nimbus Sans"/>
              </a:rPr>
              <a:t>DASHBOARD</a:t>
            </a:r>
          </a:p>
          <a:p xmlns:a="http://schemas.openxmlformats.org/drawingml/2006/main">
            <a:pPr>
              <a:defRPr sz="975" b="1" i="0">
                <a:solidFill>
                  <a:srgbClr val="D95D75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D95D75"/>
                </a:solidFill>
                <a:latin typeface="Nimbus Sans"/>
                <a:ea typeface="Nimbus Sans"/>
                <a:cs typeface="Nimbus Sans"/>
              </a:rPr>
              <a:t>INSIGHT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E1845D-B519-419B-8742-CA1C3418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19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Source preservation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F05FC8-D7BC-4669-A869-B0A6EB2C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19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Cleaning rules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B87390-731F-448A-9058-BDEFF7A0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19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Business joins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F2A75E-C34A-466C-B87A-E69060A3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KPI logic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C8B885-A954-431E-BB00-288E392A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619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Decision layer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152B2E-4A4F-4058-87E8-FA65F36C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29150"/>
            <a:ext cx="6819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5F4FA"/>
          </a:solidFill>
          <a:ln xmlns:a="http://schemas.openxmlformats.org/drawingml/2006/main" w="9525">
            <a:solidFill>
              <a:srgbClr val="D9D6E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5F659F-BD37-49CC-9B9D-D8B9436A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101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B176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2B1761"/>
                </a:solidFill>
                <a:latin typeface="Nimbus Sans"/>
                <a:ea typeface="Nimbus Sans"/>
                <a:cs typeface="Nimbus Sans"/>
              </a:rPr>
              <a:t>Deliverable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EC8124-CC5B-44E3-8D9C-973BF202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43500"/>
            <a:ext cx="6267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34-tab workbook with data dictionary, audit, clean layers, analytical models, reconciliation controls, five analysis views, dashboard and executive insight.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DEE57F-FBAA-4378-B1D3-B923C2C9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A6A1B0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A6A1B0"/>
                </a:solidFill>
                <a:latin typeface="Nimbus Sans"/>
                <a:ea typeface="Nimbus Sans"/>
                <a:cs typeface="Nimbus Sans"/>
              </a:rPr>
              <a:t>CloudFlow synthetic SaaS dataset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236902-24B3-42D6-B3EA-D1CD4626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A6A1B0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A6A1B0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704322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025EF9-E0B0-457D-A0A4-DC6A9706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Data quality controls support modeling with two restrictions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CBBB4-7935-4709-96E8-424375AA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The audit found no critical relationship failure, but usage grain and four support records remain constrained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26771-D42A-4A38-B355-0D7ED238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AFF"/>
          </a:solidFill>
          <a:ln xmlns:a="http://schemas.openxmlformats.org/drawingml/2006/main" w="0">
            <a:noFill/>
          </a:ln>
        </p:spPr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66750" y="1695450"/>
          <a:ext xmlns:a="http://schemas.openxmlformats.org/drawingml/2006/main" cx="5143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bb74358bcf467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7DEC9-E968-44C7-A180-6BDB0EDF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Material findings by severity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73BE6-1C96-401B-9483-7CC2DE7B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2E9D68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 i="0">
                <a:solidFill>
                  <a:srgbClr val="2E9D68"/>
                </a:solidFill>
                <a:latin typeface="Nimbus Sans"/>
                <a:ea typeface="Nimbus Sans"/>
                <a:cs typeface="Nimbus San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5BC85-C8A8-41E7-9D7C-D25790E6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controls passed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AF1CC-799B-451A-8989-C5A9B6F5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Raw-to-clean rows and key financial measures reconcile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79D83-9BB4-4904-88EA-DD62502A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383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E9A93B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 i="0">
                <a:solidFill>
                  <a:srgbClr val="E9A93B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CFBC62-D64B-48B2-838A-7943357D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controls for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476686-115D-410C-ABA0-54DBA33D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Usage grain and support chronology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A5E6A-92C5-4EFB-A1B1-D5872DCE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638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2E9D68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 i="0">
                <a:solidFill>
                  <a:srgbClr val="2E9D68"/>
                </a:solidFill>
                <a:latin typeface="Nimbus Sans"/>
                <a:ea typeface="Nimbus Sans"/>
                <a:cs typeface="Nimbus Sans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F65026-B2F0-427A-A008-077219C5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190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critical failures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46A10F-3B0F-4BBB-8A8E-64A30095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7650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No broken core relationship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F6C8E-AC85-4801-88E6-1D483F66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90900"/>
            <a:ext cx="5105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9A93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AAA21F-8BD2-4C38-8C31-65754468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337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8C5A00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8C5A00"/>
                </a:solidFill>
                <a:latin typeface="Nimbus Sans"/>
                <a:ea typeface="Nimbus Sans"/>
                <a:cs typeface="Nimbus Sans"/>
              </a:rPr>
              <a:t>Usage restriction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5C65E5-CA4D-4E52-99DA-497CC667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195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10,558 excess subscription-month observations prevent authoritative usage KPIs until source precedence is confirmed.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C73511-2766-4095-B65B-8BC3115D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5105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BECEF"/>
          </a:solidFill>
          <a:ln xmlns:a="http://schemas.openxmlformats.org/drawingml/2006/main" w="9525">
            <a:solidFill>
              <a:srgbClr val="D95D7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5BB76-4835-4416-AF6A-3FBFDEA9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577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9A344A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9A344A"/>
                </a:solidFill>
                <a:latin typeface="Nimbus Sans"/>
                <a:ea typeface="Nimbus Sans"/>
                <a:cs typeface="Nimbus Sans"/>
              </a:rPr>
              <a:t>Support restriction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EC63A7-E820-4F0A-A07A-33BEC236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434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Four tickets with invalid resolution chronology are excluded from timing and SLA calculations, while remaining in ticket volume.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D85651-6023-4667-8453-CBF5F571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A6A1B0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A6A1B0"/>
                </a:solidFill>
                <a:latin typeface="Nimbus Sans"/>
                <a:ea typeface="Nimbus Sans"/>
                <a:cs typeface="Nimbus Sans"/>
              </a:rPr>
              <a:t>Source: DATA_QUALITY and RECONCILIATION_CONTROL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DB30B4-A1CD-41AF-A324-9D092A17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A6A1B0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A6A1B0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731892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78BEBD-6F4B-4067-8795-1E3A5509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December 2025 executive snapshot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438A7-E767-4D90-A137-26AF8BC2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Strong year-over-year scale ended with weaker retention, acquisition and service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E2372-516F-48D7-B625-47B39C70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A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B22A8-5BE0-4B74-886B-0B596BCD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2B1761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 i="0">
                <a:solidFill>
                  <a:srgbClr val="2B1761"/>
                </a:solidFill>
                <a:latin typeface="Nimbus Sans"/>
                <a:ea typeface="Nimbus Sans"/>
                <a:cs typeface="Nimbus Sans"/>
              </a:rPr>
              <a:t>$491.5K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E7306-1124-43BD-BA89-E322ED65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ending MRR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0AF45-2026-4246-9C22-1A3D0F43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+135.6% versus December 2024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36044-B7F4-499F-84DD-AABA44E2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764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4C6FFF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 i="0">
                <a:solidFill>
                  <a:srgbClr val="4C6FFF"/>
                </a:solidFill>
                <a:latin typeface="Nimbus Sans"/>
                <a:ea typeface="Nimbus Sans"/>
                <a:cs typeface="Nimbus Sans"/>
              </a:rPr>
              <a:t>2,007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FFFF0-03F3-4A9A-BF42-FF1CD8DB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28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active subscriptions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359D5-FA04-4F37-A37F-F653A38D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146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+114.4% year over year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3DE7E-DA5C-49A7-A1D5-AAF475F8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764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D95D75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 i="0">
                <a:solidFill>
                  <a:srgbClr val="D95D75"/>
                </a:solidFill>
                <a:latin typeface="Nimbus Sans"/>
                <a:ea typeface="Nimbus Sans"/>
                <a:cs typeface="Nimbus Sans"/>
              </a:rPr>
              <a:t>96.5%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2DEC1-2D3B-461C-B423-8512B894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28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net revenue retention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82A99-A420-4334-8178-AE8F3822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146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Down 4.1 points year over year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A31D74-CEB8-47D0-B028-C94CF215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764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EAD9F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 i="0">
                <a:solidFill>
                  <a:srgbClr val="1EAD9F"/>
                </a:solidFill>
                <a:latin typeface="Nimbus Sans"/>
                <a:ea typeface="Nimbus Sans"/>
                <a:cs typeface="Nimbus Sans"/>
              </a:rPr>
              <a:t>62.3%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E674F6-9D7E-4301-BC98-9D071FFF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28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estimated seat utilization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44892-749A-4F49-9C66-95989235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146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Proxy usage measure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F5AE3-D90E-43DB-B382-89C3A75D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67640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D95D75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 i="0">
                <a:solidFill>
                  <a:srgbClr val="D95D75"/>
                </a:solidFill>
                <a:latin typeface="Nimbus Sans"/>
                <a:ea typeface="Nimbus Sans"/>
                <a:cs typeface="Nimbus Sans"/>
              </a:rPr>
              <a:t>40.4%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C99212-9A54-43FA-892A-3F73FABF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28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support SLA met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B9FD05-7144-44A8-9BBE-32CF45C5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5146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14.2 response hours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6FE46D-2D83-4546-B8C3-1F0F51C3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E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850ED3-6948-4406-8AD9-0E4ADED0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B1761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2B1761"/>
                </a:solidFill>
                <a:latin typeface="Nimbus Sans"/>
                <a:ea typeface="Nimbus Sans"/>
                <a:cs typeface="Nimbus Sans"/>
              </a:rPr>
              <a:t>What changed at year-end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5A6C6B-129F-4681-86EA-908BC5E2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4857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MRR peaked at $518.5K in October, then fell 5.2% by December. Active subscriptions fell 9.6% over the same period.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3BC965-1004-40E4-9370-CBC983DE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672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The model records no new activations in November or December, while cancellations reached 116 and 96.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564582-193B-4541-BFB3-81566451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11010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E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3480C9-19A7-4B07-9EC2-449C4CBA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B176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2B1761"/>
                </a:solidFill>
                <a:latin typeface="Nimbus Sans"/>
                <a:ea typeface="Nimbus Sans"/>
                <a:cs typeface="Nimbus Sans"/>
              </a:rPr>
              <a:t>Leadership implication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E9958F-096D-43F8-A22A-4F639B8E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24500"/>
            <a:ext cx="866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Protect the scaled revenue base by restoring acquisition, improving retention and stabilizing service delivery.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FEC303-A31E-4C98-960A-089A791F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A6A1B0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A6A1B0"/>
                </a:solidFill>
                <a:latin typeface="Nimbus Sans"/>
                <a:ea typeface="Nimbus Sans"/>
                <a:cs typeface="Nimbus Sans"/>
              </a:rPr>
              <a:t>Source: ANALYSIS_KPI_MONTHLY, ANALYSIS_USAGE_ADOPTION and ANALYSIS_SUPPORT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0C4736-04C7-4181-9D1A-01C44543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A6A1B0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A6A1B0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58565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B239D-CE6E-41DA-B130-6FE7FEA2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MRR growth reversed after the October peak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45A98-2350-434E-AAA2-9845B705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Monthly recurring revenue from January 2024 to December 2025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ADF58-F9E7-4E33-8F5C-BD6D0CE7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AFF"/>
          </a:solidFill>
          <a:ln xmlns:a="http://schemas.openxmlformats.org/drawingml/2006/main" w="0">
            <a:noFill/>
          </a:ln>
        </p:spPr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90550" y="1600200"/>
          <a:ext xmlns:a="http://schemas.openxmlformats.org/drawingml/2006/main" cx="8096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7dd77402bd46e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EB6EF-7F32-4B72-89CC-8084F5CA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$K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B8BD8-4A11-465A-8186-51A383CB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954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2B1761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 i="0">
                <a:solidFill>
                  <a:srgbClr val="2B1761"/>
                </a:solidFill>
                <a:latin typeface="Nimbus Sans"/>
                <a:ea typeface="Nimbus Sans"/>
                <a:cs typeface="Nimbus Sans"/>
              </a:rPr>
              <a:t>$518.5K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2256F-E619-49C9-8562-F9F60F98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47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October peak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C77B3-46AA-4E1F-BF88-FCCBE696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33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Highest MRR in the period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AE0AF-62F7-4851-8296-2BEB42FB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051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D95D75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 i="0">
                <a:solidFill>
                  <a:srgbClr val="D95D75"/>
                </a:solidFill>
                <a:latin typeface="Nimbus Sans"/>
                <a:ea typeface="Nimbus Sans"/>
                <a:cs typeface="Nimbus Sans"/>
              </a:rPr>
              <a:t>−5.2%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252CA-6DDD-44FF-A5B8-F2F6AF7C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576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MRR after the peak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2E68B-C2CF-44EE-B8FF-84B3E35F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433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October to December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57877-A442-4199-A42E-1A4C1A20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148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D95D75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 i="0">
                <a:solidFill>
                  <a:srgbClr val="D95D75"/>
                </a:solidFill>
                <a:latin typeface="Nimbus Sans"/>
                <a:ea typeface="Nimbus Sans"/>
                <a:cs typeface="Nimbus Sans"/>
              </a:rPr>
              <a:t>96.5%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3421A9-4B6C-4CA1-BEAA-22C279C5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67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December NRR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2FF9B6-F3F7-436B-A73F-6D0D9516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3530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Below the 100% retention threshold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F5643-CA77-428B-8AA6-1C9111BD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A6A1B0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A6A1B0"/>
                </a:solidFill>
                <a:latin typeface="Nimbus Sans"/>
                <a:ea typeface="Nimbus Sans"/>
                <a:cs typeface="Nimbus Sans"/>
              </a:rPr>
              <a:t>Source: ANALYSIS_KPI_MONTHLY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A0BC4E-7459-445C-A085-98DC2A93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A6A1B0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A6A1B0"/>
                </a:solidFill>
                <a:latin typeface="Nimbus Sans"/>
                <a:ea typeface="Nimbus Sans"/>
                <a:cs typeface="Nimbus San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190708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1E77AF-5B19-4AF8-847B-DC6F7A15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Enterprise adoption exceeds SMB by 19.3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35791-E4EB-436F-8405-6F33525C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Proxy estimates by normalized customer segment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18543-CCE4-4527-84BC-9D035585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AFF"/>
          </a:solidFill>
          <a:ln xmlns:a="http://schemas.openxmlformats.org/drawingml/2006/main" w="0">
            <a:noFill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47700" y="1676400"/>
          <a:ext xmlns:a="http://schemas.openxmlformats.org/drawingml/2006/main" cx="723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8b413950c2494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8571C-769F-4A9D-BC57-5C37F442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2B1761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 i="0">
                <a:solidFill>
                  <a:srgbClr val="2B1761"/>
                </a:solidFill>
                <a:latin typeface="Nimbus Sans"/>
                <a:ea typeface="Nimbus Sans"/>
                <a:cs typeface="Nimbus Sans"/>
              </a:rPr>
              <a:t>19.3 pts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A49A4-67FA-4A85-981B-0BF42B27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Enterprise-to-SMB adoption gap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BF1F4-B612-4268-89AC-AC06B3CF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43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68.2 versus 48.9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2DF40-01DE-42ED-B425-6E03346F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909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EAD9F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 i="0">
                <a:solidFill>
                  <a:srgbClr val="1EAD9F"/>
                </a:solidFill>
                <a:latin typeface="Nimbus Sans"/>
                <a:ea typeface="Nimbus Sans"/>
                <a:cs typeface="Nimbus Sans"/>
              </a:rPr>
              <a:t>15.4 pts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2DC764-074B-479F-A199-01553D1D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43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seat-utilization gap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87C24-8273-4414-A024-E5B5B4DB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291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68.7% versus 53.3%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70CFE-DD4D-46B2-A7B5-08585C49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57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B1761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2B1761"/>
                </a:solidFill>
                <a:latin typeface="Nimbus Sans"/>
                <a:ea typeface="Nimbus Sans"/>
                <a:cs typeface="Nimbus Sans"/>
              </a:rPr>
              <a:t>Business interpretation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131A1-3CBA-44A6-A6DC-22E30526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91125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SMB customers appear to realize less product value. Segment-specific onboarding should focus on activation, seat use and repeat workflows.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6665B-99E6-43BF-B45E-3B65C408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 i="1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1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Usage measures are proxy estimates based on averaged conflicting subscription-month observations.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0674C6-A125-4FFC-8673-9A7F18CA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A6A1B0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A6A1B0"/>
                </a:solidFill>
                <a:latin typeface="Nimbus Sans"/>
                <a:ea typeface="Nimbus Sans"/>
                <a:cs typeface="Nimbus Sans"/>
              </a:rPr>
              <a:t>Source: ANALYSIS_USAGE_ADOPTION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1DF925-267D-4ECF-A7FD-95FD15A0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A6A1B0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A6A1B0"/>
                </a:solidFill>
                <a:latin typeface="Nimbus Sans"/>
                <a:ea typeface="Nimbus Sans"/>
                <a:cs typeface="Nimbus San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898651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A0308D-3201-49FA-A11D-ADEA03C4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Support SLA attainment ended 2025 at 40.4%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E63AA-AE7F-4B27-95BA-AEDA9205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Monthly first-response SLA attainment during 2025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505C2-F5A4-41BE-8CC3-9DB35286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AFF"/>
          </a:solidFill>
          <a:ln xmlns:a="http://schemas.openxmlformats.org/drawingml/2006/main" w="0">
            <a:noFill/>
          </a:ln>
        </p:spPr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781050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fd3d7fcaf24a3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88E21-4C37-4A36-BC72-B60BF1B9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% of eligible tickets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3D8C1-DEAB-4082-B702-7EDAADCC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14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D95D75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 i="0">
                <a:solidFill>
                  <a:srgbClr val="D95D75"/>
                </a:solidFill>
                <a:latin typeface="Nimbus Sans"/>
                <a:ea typeface="Nimbus Sans"/>
                <a:cs typeface="Nimbus Sans"/>
              </a:rPr>
              <a:t>14.2h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B4C3E-ACCC-4FD4-8FBA-0E7AEB5F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66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average first response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42D72-4208-42FF-80F8-DF1AB928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527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December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8C671-56FE-4819-BA64-85818B49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E9A93B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 i="0">
                <a:solidFill>
                  <a:srgbClr val="E9A93B"/>
                </a:solidFill>
                <a:latin typeface="Nimbus Sans"/>
                <a:ea typeface="Nimbus Sans"/>
                <a:cs typeface="Nimbus Sans"/>
              </a:rPr>
              <a:t>53.3h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DC680-CA8F-4CD8-8AEF-D8EE6B02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57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average resolution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0B4EB-A938-428B-A760-6FC86D8F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433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Valid chronology records 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2701E3-0FEE-4A69-A7DD-9BB5B629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958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2B1761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 i="0">
                <a:solidFill>
                  <a:srgbClr val="2B1761"/>
                </a:solidFill>
                <a:latin typeface="Nimbus Sans"/>
                <a:ea typeface="Nimbus Sans"/>
                <a:cs typeface="Nimbus Sans"/>
              </a:rPr>
              <a:t>3.93 / 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52FA35-14EF-48A0-B26F-7D9BF98D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48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average CSAT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7EA5C5-35BF-4F69-B02C-85E0078B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3340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235 respondents in December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0741CA-CD8F-4706-89C1-24ED5541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A6A1B0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A6A1B0"/>
                </a:solidFill>
                <a:latin typeface="Nimbus Sans"/>
                <a:ea typeface="Nimbus Sans"/>
                <a:cs typeface="Nimbus Sans"/>
              </a:rPr>
              <a:t>Source: ANALYSIS_SUPPORT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E7FA50-6A07-48A5-81B9-10A25D78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A6A1B0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A6A1B0"/>
                </a:solidFill>
                <a:latin typeface="Nimbus Sans"/>
                <a:ea typeface="Nimbus Sans"/>
                <a:cs typeface="Nimbus San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491373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D921E7-DB04-41CF-B781-A1B3B71D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Customer acquisition became less efficient in 2025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FFF93-0326-4DB5-B385-EA9A70F7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Blended CAC increased while reported acquired customers declined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20857-A2CF-48CA-B168-5A46EA43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AFF"/>
          </a:solidFill>
          <a:ln xmlns:a="http://schemas.openxmlformats.org/drawingml/2006/main" w="0">
            <a:noFill/>
          </a:ln>
        </p:spPr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7620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0ce8be630448d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4874F-928E-4167-9F17-3F607851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$ per reported acquired customer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8DBB4-3518-4732-9AAD-C97B36B5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E9A93B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 i="0">
                <a:solidFill>
                  <a:srgbClr val="E9A93B"/>
                </a:solidFill>
                <a:latin typeface="Nimbus Sans"/>
                <a:ea typeface="Nimbus Sans"/>
                <a:cs typeface="Nimbus Sans"/>
              </a:rPr>
              <a:t>+3.3%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F8A72-4FB5-477C-B52B-CD09CC39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47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2025 marketing spend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FC22CA-E209-4881-BA58-F48FFEF4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336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Versus 2024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C61CDB-5DDF-486E-A058-624C1CDA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D95D75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 i="0">
                <a:solidFill>
                  <a:srgbClr val="D95D75"/>
                </a:solidFill>
                <a:latin typeface="Nimbus Sans"/>
                <a:ea typeface="Nimbus Sans"/>
                <a:cs typeface="Nimbus Sans"/>
              </a:rPr>
              <a:t>−11.7%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B2994-5492-475E-944F-F150B65B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00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reported customers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CF6BE-5008-4CC8-9B6C-A76E82BD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862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4,079 in 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F0D4B0-90A4-4FF7-B71C-008BAA64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005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D95D75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 i="0">
                <a:solidFill>
                  <a:srgbClr val="D95D75"/>
                </a:solidFill>
                <a:latin typeface="Nimbus Sans"/>
                <a:ea typeface="Nimbus Sans"/>
                <a:cs typeface="Nimbus Sans"/>
              </a:rPr>
              <a:t>+17.0%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F5F19F-376F-4BD6-87DF-37F025DD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18122B"/>
                </a:solidFill>
                <a:latin typeface="Nimbus Sans"/>
                <a:ea typeface="Nimbus Sans"/>
                <a:cs typeface="Nimbus Sans"/>
              </a:rPr>
              <a:t>blended CAC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2380D-165B-4B31-A223-CD8B7C9B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387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$461 in 2025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7177B0-DAAC-412A-8F62-B7BE16B6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72125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 i="1">
                <a:solidFill>
                  <a:srgbClr val="676275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1">
                <a:solidFill>
                  <a:srgbClr val="676275"/>
                </a:solidFill>
                <a:latin typeface="Nimbus Sans"/>
                <a:ea typeface="Nimbus Sans"/>
                <a:cs typeface="Nimbus Sans"/>
              </a:rPr>
              <a:t>CRM attribution covered only 0.64% of 2025 acquired customers. Channel comparisons should guide tests, not major budget shifts.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23B2D8-D07D-4783-B78C-10F5E4CD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A6A1B0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A6A1B0"/>
                </a:solidFill>
                <a:latin typeface="Nimbus Sans"/>
                <a:ea typeface="Nimbus Sans"/>
                <a:cs typeface="Nimbus Sans"/>
              </a:rPr>
              <a:t>Source: ANALYSIS_MARKETING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017F34-7FAA-48E3-B856-471DB2DF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A6A1B0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A6A1B0"/>
                </a:solidFill>
                <a:latin typeface="Nimbus Sans"/>
                <a:ea typeface="Nimbus Sans"/>
                <a:cs typeface="Nimbus San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704003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B1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67E47E-8E26-4C60-AD67-0B9A1148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Recommended management 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30C0A-07B7-4184-890F-6010E93F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060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E9E4F7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E9E4F7"/>
                </a:solidFill>
                <a:latin typeface="Nimbus Sans"/>
                <a:ea typeface="Nimbus Sans"/>
                <a:cs typeface="Nimbus Sans"/>
              </a:rPr>
              <a:t>Priorities for the next operating 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983ED-09EF-4F15-9B8F-C8552DA2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1EAD9F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 i="0">
                <a:solidFill>
                  <a:srgbClr val="1EAD9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0190D-5D21-4746-BBBC-CB1A1ED1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954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Restore acquisition and retention momentum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12A60-4C86-4A8E-AA4B-C85CE14B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57400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E9E4F7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E9E4F7"/>
                </a:solidFill>
                <a:latin typeface="Nimbus Sans"/>
                <a:ea typeface="Nimbus Sans"/>
                <a:cs typeface="Nimbus Sans"/>
              </a:rPr>
              <a:t>Validate the zero-activation result for November and December. Review activations, cancellations, lost MRR and NRR every week.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4E73B-6C8C-4CE1-A899-8F4F8777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78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69B96-58C8-4F1D-9BE2-1F5980F1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4C6FFF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 i="0">
                <a:solidFill>
                  <a:srgbClr val="4C6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60C4C-3551-4123-9201-8DD4C1A0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Repair attribution before reallocating spend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5C457-29BB-448A-9971-74334DCE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E9E4F7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E9E4F7"/>
                </a:solidFill>
                <a:latin typeface="Nimbus Sans"/>
                <a:ea typeface="Nimbus Sans"/>
                <a:cs typeface="Nimbus Sans"/>
              </a:rPr>
              <a:t>Implement campaign-level CRM tracking. Use Paid Social as the efficiency benchmark, then test budget changes with verified conversion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74CD7-BAD9-4164-9D9F-DA274154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338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78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375BC-3BC1-414C-9AB1-9CFC5100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E9A93B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 i="0">
                <a:solidFill>
                  <a:srgbClr val="E9A93B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F2CBE-092B-4516-A4E4-1E121862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67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Launch an SMB adoption program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EB135-FB6F-4989-9B53-BEDE618B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29100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E9E4F7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E9E4F7"/>
                </a:solidFill>
                <a:latin typeface="Nimbus Sans"/>
                <a:ea typeface="Nimbus Sans"/>
                <a:cs typeface="Nimbus Sans"/>
              </a:rPr>
              <a:t>Adapt enterprise onboarding practices for SMB customers and monitor activation, seat utilization and feature adoption.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40A06-F0EA-4A3D-BBB7-3613F79E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96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478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D6C9D-BAFB-4472-BE30-46B27733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D95D75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 i="0">
                <a:solidFill>
                  <a:srgbClr val="D95D75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2ACE37-103F-42F5-98F2-0B8B8CB9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Stabilize support SLA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242FB5-C997-4A07-953F-93330CCE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14950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E9E4F7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E9E4F7"/>
                </a:solidFill>
                <a:latin typeface="Nimbus Sans"/>
                <a:ea typeface="Nimbus Sans"/>
                <a:cs typeface="Nimbus Sans"/>
              </a:rPr>
              <a:t>Review staffing and backlog by priority. Assign queue ownership and track response and resolution delays weekly.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F636B2-1D82-4F78-8751-DB0A3E59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43625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Success means NRR above 100%, positive net subscription additions, lower CAC with reliable attribution, a narrower SMB adoption gap and higher SLA attainment.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370C9C-0BA1-4928-BC5E-4B05A823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1EAD9F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1EAD9F"/>
                </a:solidFill>
                <a:latin typeface="Nimbus Sans"/>
                <a:ea typeface="Nimbus Sans"/>
                <a:cs typeface="Nimbus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466032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2026-09-22T13:02:48.8460000Z</dcterms:created>
  <dcterms:modified xsi:type="dcterms:W3CDTF">2026-09-22T13:02:48.8460000Z</dcterms:modified>
</coreProperties>
</file>